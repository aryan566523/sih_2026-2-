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drawings/drawing1.xml" ContentType="application/vnd.openxmlformats-officedocument.drawingml.chartshapes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3AED"/>
    <a:srgbClr val="059669"/>
    <a:srgbClr val="0284C7"/>
    <a:srgbClr val="16A34A"/>
    <a:srgbClr val="64748B"/>
    <a:srgbClr val="1E293B"/>
    <a:srgbClr val="9BBB59"/>
    <a:srgbClr val="39B0D4"/>
    <a:srgbClr val="727272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7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182802067162955"/>
          <c:y val="0.13582755521132567"/>
          <c:w val="0.42132360909922106"/>
          <c:h val="0.54385675519292809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QC only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12700">
                <a:solidFill>
                  <a:schemeClr val="lt2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marke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Weather Kept</c:v>
                </c:pt>
                <c:pt idx="2">
                  <c:v>Root Cause</c:v>
                </c:pt>
                <c:pt idx="3">
                  <c:v>Explains</c:v>
                </c:pt>
                <c:pt idx="4">
                  <c:v>Neighbours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27-448A-A04C-72781318BA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Temporal AI only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12700">
                <a:solidFill>
                  <a:schemeClr val="lt2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marke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Weather Kept</c:v>
                </c:pt>
                <c:pt idx="2">
                  <c:v>Root Cause</c:v>
                </c:pt>
                <c:pt idx="3">
                  <c:v>Explains</c:v>
                </c:pt>
                <c:pt idx="4">
                  <c:v>Neighbours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27-448A-A04C-72781318BA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TRINETRA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12700">
                <a:solidFill>
                  <a:schemeClr val="lt2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marke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Weather Kept</c:v>
                </c:pt>
                <c:pt idx="2">
                  <c:v>Root Cause</c:v>
                </c:pt>
                <c:pt idx="3">
                  <c:v>Explains</c:v>
                </c:pt>
                <c:pt idx="4">
                  <c:v>Neighbours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27-448A-A04C-72781318B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6519455"/>
        <c:axId val="1704468175"/>
      </c:radarChart>
      <c:catAx>
        <c:axId val="167651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468175"/>
        <c:crosses val="autoZero"/>
        <c:auto val="1"/>
        <c:lblAlgn val="ctr"/>
        <c:lblOffset val="100"/>
        <c:noMultiLvlLbl val="0"/>
      </c:catAx>
      <c:valAx>
        <c:axId val="1704468175"/>
        <c:scaling>
          <c:orientation val="minMax"/>
          <c:max val="3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519455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1009993390655038E-2"/>
          <c:y val="0.67587645654952566"/>
          <c:w val="0.95575911049105045"/>
          <c:h val="0.172683844217553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1" i="0" u="none" strike="noStrike" cap="all" baseline="0" dirty="0"/>
              <a:t>Fault Types in the Test (550 injected faults)</a:t>
            </a:r>
            <a:endParaRPr lang="en-IN" dirty="0"/>
          </a:p>
        </c:rich>
      </c:tx>
      <c:layout>
        <c:manualLayout>
          <c:xMode val="edge"/>
          <c:yMode val="edge"/>
          <c:x val="0.15187485418557645"/>
          <c:y val="4.75755927469323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9.2190136899521297E-2"/>
          <c:y val="0.31221707506754243"/>
          <c:w val="0.81202992409986718"/>
          <c:h val="0.446573171261644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injected faults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F58-4759-B1D5-1796517EE9F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F58-4759-B1D5-1796517EE9F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F58-4759-B1D5-1796517EE9F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F58-4759-B1D5-1796517EE9F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AF58-4759-B1D5-1796517EE9F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AF58-4759-B1D5-1796517EE9F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AF58-4759-B1D5-1796517EE9F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Sudden jump</c:v>
                </c:pt>
                <c:pt idx="1">
                  <c:v>Stuck value</c:v>
                </c:pt>
                <c:pt idx="2">
                  <c:v>Transient spike</c:v>
                </c:pt>
                <c:pt idx="3">
                  <c:v>Slow drift</c:v>
                </c:pt>
                <c:pt idx="4">
                  <c:v>Comm. error</c:v>
                </c:pt>
                <c:pt idx="5">
                  <c:v>Noise burst</c:v>
                </c:pt>
                <c:pt idx="6">
                  <c:v>Power glitch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</c:v>
                </c:pt>
                <c:pt idx="1">
                  <c:v>0.1673</c:v>
                </c:pt>
                <c:pt idx="2">
                  <c:v>0.1473</c:v>
                </c:pt>
                <c:pt idx="3">
                  <c:v>0.1309</c:v>
                </c:pt>
                <c:pt idx="4">
                  <c:v>0.1309</c:v>
                </c:pt>
                <c:pt idx="5">
                  <c:v>0.1127</c:v>
                </c:pt>
                <c:pt idx="6">
                  <c:v>0.1109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F58-4759-B1D5-1796517EE9F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929259782125578E-2"/>
          <c:y val="0.79056062778804215"/>
          <c:w val="0.9400707402178744"/>
          <c:h val="0.191148617161078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0.05801</cdr:x>
      <cdr:y>0.06643</cdr:y>
    </cdr:from>
    <cdr:to>
      <cdr:x>0.96871</cdr:x>
      <cdr:y>0.21601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C69F44B8-8906-8D30-CD20-C7858E53C93E}"/>
            </a:ext>
          </a:extLst>
        </cdr:cNvPr>
        <cdr:cNvSpPr txBox="1"/>
      </cdr:nvSpPr>
      <cdr:spPr>
        <a:xfrm xmlns:a="http://schemas.openxmlformats.org/drawingml/2006/main">
          <a:off x="170330" y="354643"/>
          <a:ext cx="2673893" cy="7985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 dirty="0"/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Idea. TRINETRA checks each reading with quick rules, physics, the station’s own AI and its neighbours, then decides fault or real weather and explains why.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Technical approach. Python engine, scikit-learn models, a 112-byte C++ edge check, and a dashboard that shows real engine output.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Feasibility. Uses data every AWS already sends. All results are from simulation; real IMD data is the next step.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Impact. Cleaner forecast inputs, faster repairs, real extremes kept.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Research. References and simulated case studies from our engine.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Relationship Id="rId30" Type="http://schemas.openxmlformats.org/officeDocument/2006/relationships/image" Target="../media/image5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microsoft.com/office/2007/relationships/hdphoto" Target="../media/hdphoto1.wdp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sv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hyperlink" Target="https://github.com/Aryan566523/SIH_2026" TargetMode="External"/><Relationship Id="rId25" Type="http://schemas.openxmlformats.org/officeDocument/2006/relationships/hyperlink" Target="https://youtu.be/xn2Cz00Kzls" TargetMode="External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7.png"/><Relationship Id="rId30" Type="http://schemas.openxmlformats.org/officeDocument/2006/relationships/image" Target="../media/image58.png"/><Relationship Id="rId31" Type="http://schemas.openxmlformats.org/officeDocument/2006/relationships/image" Target="../media/image59.png"/><Relationship Id="rId32" Type="http://schemas.openxmlformats.org/officeDocument/2006/relationships/image" Target="../media/image60.png"/><Relationship Id="rId33" Type="http://schemas.openxmlformats.org/officeDocument/2006/relationships/image" Target="../media/image61.png"/><Relationship Id="rId34" Type="http://schemas.openxmlformats.org/officeDocument/2006/relationships/image" Target="../media/image62.png"/><Relationship Id="rId35" Type="http://schemas.openxmlformats.org/officeDocument/2006/relationships/image" Target="../media/image6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png"/><Relationship Id="rId4" Type="http://schemas.openxmlformats.org/officeDocument/2006/relationships/image" Target="../media/image2.png"/><Relationship Id="rId5" Type="http://schemas.openxmlformats.org/officeDocument/2006/relationships/hyperlink" Target="https://www.newindianexpress.com/cities/hyderabad/2026/Feb/17/hyderabad-cybercrime-police-arrest-trio-in-rs-17-cr-crypto-fraud" TargetMode="External"/><Relationship Id="rId6" Type="http://schemas.openxmlformats.org/officeDocument/2006/relationships/hyperlink" Target="https://yellow.com/news/tether-tron-freeze-usdt-enforcement-action" TargetMode="External"/><Relationship Id="rId7" Type="http://schemas.openxmlformats.org/officeDocument/2006/relationships/hyperlink" Target="https://arxiv.org/abs/1908.02591" TargetMode="External"/><Relationship Id="rId8" Type="http://schemas.openxmlformats.org/officeDocument/2006/relationships/hyperlink" Target="https://www.mdpi.com/1099-4300/26/3/211" TargetMode="External"/><Relationship Id="rId9" Type="http://schemas.openxmlformats.org/officeDocument/2006/relationships/hyperlink" Target="https://dl.acm.org/doi/10.1145/2504730.2504747" TargetMode="External"/><Relationship Id="rId10" Type="http://schemas.openxmlformats.org/officeDocument/2006/relationships/hyperlink" Target="https://doi.org/10.1109/ICDM.2008.17" TargetMode="External"/><Relationship Id="rId11" Type="http://schemas.openxmlformats.org/officeDocument/2006/relationships/hyperlink" Target="https://doi.org/10.1145/1541880.1541882" TargetMode="External"/><Relationship Id="rId12" Type="http://schemas.openxmlformats.org/officeDocument/2006/relationships/hyperlink" Target="https://doi.org/10.1175/1520-0493(1980)108%3C1046:TCOEPT%3E2.0.CO;2" TargetMode="External"/><Relationship Id="rId13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42084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-526757"/>
            <a:ext cx="1036320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449" y="1220232"/>
            <a:ext cx="6319457" cy="564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SIH26073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AI/ML-Based Intelligent Anomaly Detection for Automatic Weather Stations (AWS)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 xml:space="preserve"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126173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 xml:space="preserve"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Secure OOPS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 xml:space="preserve">Solution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TRINETRA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14" name="Picture 1541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30000" y="1450000"/>
            <a:ext cx="3200000" cy="4860000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Secure</a:t>
            </a:r>
          </a:p>
          <a:p>
            <a:pPr algn="ctr"/>
            <a:r>
              <a:rPr lang="en-US" dirty="0"/>
              <a:t>OOPS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65760" y="1229868"/>
            <a:ext cx="91440" cy="1828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66928" y="1188720"/>
            <a:ext cx="5156539" cy="1323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dirty="0">
                <a:solidFill>
                  <a:srgbClr val="1F497D"/>
                </a:solidFill>
                <a:latin typeface="Arial"/>
              </a:rPr>
              <a:t>Proposed Solution </a:t>
            </a:r>
            <a:endParaRPr lang="en-US" sz="1250" b="1" i="0" dirty="0">
              <a:solidFill>
                <a:srgbClr val="1F497D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t/>
            </a:r>
            <a:endParaRPr lang="en-IN" sz="1250" b="1" dirty="0">
              <a:solidFill>
                <a:srgbClr val="1F497D"/>
              </a:solidFill>
              <a:latin typeface="Arial"/>
              <a:cs typeface="Arial" panose="020B060402020202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TRINETRA is an AI + physics engine for the IMD network. It reads every station’s temperature, pressure and humidity each minute, decides whether an odd reading is a broken sensor or real weather, and explains its decision in plain words with a corrected value and a repair action.</a:t>
            </a:r>
            <a:endParaRPr sz="1250" b="1" i="0" dirty="0">
              <a:solidFill>
                <a:srgbClr val="1F49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2FBFF3-6442-35BF-C5CE-9B903AC54CA7}"/>
              </a:ext>
            </a:extLst>
          </p:cNvPr>
          <p:cNvGrpSpPr/>
          <p:nvPr/>
        </p:nvGrpSpPr>
        <p:grpSpPr>
          <a:xfrm>
            <a:off x="5956985" y="1198735"/>
            <a:ext cx="5655520" cy="287310"/>
            <a:chOff x="365760" y="2724912"/>
            <a:chExt cx="5532120" cy="256032"/>
          </a:xfrm>
        </p:grpSpPr>
        <p:sp>
          <p:nvSpPr>
            <p:cNvPr id="15387" name="Rectangle 15386"/>
            <p:cNvSpPr/>
            <p:nvPr/>
          </p:nvSpPr>
          <p:spPr>
            <a:xfrm>
              <a:off x="365760" y="2766060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88" name="TextBox 15387"/>
            <p:cNvSpPr txBox="1"/>
            <p:nvPr/>
          </p:nvSpPr>
          <p:spPr>
            <a:xfrm>
              <a:off x="566928" y="2724912"/>
              <a:ext cx="5330952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50" b="1" i="0" dirty="0">
                  <a:solidFill>
                    <a:srgbClr val="1F497D"/>
                  </a:solidFill>
                  <a:latin typeface="Arial"/>
                </a:rPr>
                <a:t>How it addresses the problem</a:t>
              </a:r>
            </a:p>
          </p:txBody>
        </p:sp>
      </p:grpSp>
      <p:sp>
        <p:nvSpPr>
          <p:cNvPr id="15389" name="Rounded Rectangle 15388"/>
          <p:cNvSpPr/>
          <p:nvPr/>
        </p:nvSpPr>
        <p:spPr>
          <a:xfrm>
            <a:off x="6023720" y="1479468"/>
            <a:ext cx="2938379" cy="4783854"/>
          </a:xfrm>
          <a:prstGeom prst="roundRect">
            <a:avLst>
              <a:gd name="adj" fmla="val 9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0" name="TextBox 15389"/>
          <p:cNvSpPr txBox="1"/>
          <p:nvPr/>
        </p:nvSpPr>
        <p:spPr>
          <a:xfrm>
            <a:off x="6127733" y="1640867"/>
            <a:ext cx="2938379" cy="271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 dirty="0">
                <a:solidFill>
                  <a:srgbClr val="1F497D"/>
                </a:solidFill>
                <a:latin typeface="Arial"/>
              </a:rPr>
              <a:t>The problem: a broken sensor’s data slips into forecasts unnoticed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285366" y="2262900"/>
            <a:ext cx="41605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 dirty="0">
                <a:solidFill>
                  <a:srgbClr val="4E5C69"/>
                </a:solidFill>
                <a:latin typeface="Arial"/>
              </a:rPr>
              <a:t>Fault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6289288" y="2761412"/>
            <a:ext cx="416054" cy="34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 dirty="0">
                <a:solidFill>
                  <a:srgbClr val="B87600"/>
                </a:solidFill>
                <a:latin typeface="Arial"/>
              </a:rPr>
              <a:t>Pass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289288" y="3330327"/>
            <a:ext cx="416054" cy="34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 dirty="0">
                <a:solidFill>
                  <a:srgbClr val="B53A38"/>
                </a:solidFill>
                <a:latin typeface="Arial"/>
              </a:rPr>
              <a:t>Miss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6095999" y="4062126"/>
            <a:ext cx="2622139" cy="923822"/>
          </a:xfrm>
          <a:prstGeom prst="roundRect">
            <a:avLst>
              <a:gd name="adj" fmla="val 9000"/>
            </a:avLst>
          </a:prstGeom>
          <a:solidFill>
            <a:srgbClr val="FA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6166313" y="4247038"/>
            <a:ext cx="1892465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 dirty="0">
                <a:solidFill>
                  <a:srgbClr val="B53A38"/>
                </a:solidFill>
                <a:latin typeface="Arial"/>
              </a:rPr>
              <a:t>Manual checks cannot watch every station every minute.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6115461" y="5059439"/>
            <a:ext cx="2622139" cy="1090178"/>
          </a:xfrm>
          <a:prstGeom prst="roundRect">
            <a:avLst>
              <a:gd name="adj" fmla="val 9000"/>
            </a:avLst>
          </a:prstGeom>
          <a:solidFill>
            <a:srgbClr val="E8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0" name="TextBox 15399"/>
          <p:cNvSpPr txBox="1"/>
          <p:nvPr/>
        </p:nvSpPr>
        <p:spPr>
          <a:xfrm>
            <a:off x="6198672" y="5207143"/>
            <a:ext cx="247362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200" b="1" i="0" dirty="0">
                <a:solidFill>
                  <a:srgbClr val="3E6E2E"/>
                </a:solidFill>
                <a:latin typeface="Arial"/>
              </a:rPr>
              <a:t>TRINETRA</a:t>
            </a:r>
            <a:r>
              <a:rPr sz="1200" b="1" i="0" dirty="0">
                <a:solidFill>
                  <a:srgbClr val="3E6E2E"/>
                </a:solidFill>
                <a:latin typeface="Arial"/>
              </a:rPr>
              <a:t xml:space="preserve"> checks every minute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6198673" y="5665416"/>
            <a:ext cx="1860106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4E5C69"/>
                </a:solidFill>
                <a:latin typeface="Arial"/>
              </a:rPr>
              <a:t>Median 3 min to alert in tests, with a reason, a corrected value and a repair action.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122325-5CB3-7B94-DC00-4E73D290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TRINETRA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D29A36-6CAC-F428-23FE-83ED27404C4A}"/>
              </a:ext>
            </a:extLst>
          </p:cNvPr>
          <p:cNvGrpSpPr/>
          <p:nvPr/>
        </p:nvGrpSpPr>
        <p:grpSpPr>
          <a:xfrm>
            <a:off x="381875" y="2803675"/>
            <a:ext cx="5532119" cy="224028"/>
            <a:chOff x="6263640" y="2724912"/>
            <a:chExt cx="5532119" cy="22402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81431B-1B60-7D42-AD34-DB736E156F18}"/>
                </a:ext>
              </a:extLst>
            </p:cNvPr>
            <p:cNvSpPr/>
            <p:nvPr/>
          </p:nvSpPr>
          <p:spPr>
            <a:xfrm>
              <a:off x="6263640" y="2766060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44810B-86B2-C0C5-EB81-AED30D2596D5}"/>
                </a:ext>
              </a:extLst>
            </p:cNvPr>
            <p:cNvSpPr txBox="1"/>
            <p:nvPr/>
          </p:nvSpPr>
          <p:spPr>
            <a:xfrm>
              <a:off x="6464807" y="2724912"/>
              <a:ext cx="5330952" cy="192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lang="en-IN" sz="1250" b="1" i="0" dirty="0">
                  <a:solidFill>
                    <a:srgbClr val="1F497D"/>
                  </a:solidFill>
                  <a:latin typeface="Arial"/>
                </a:rPr>
                <a:t>Key Capabilities (USPs):</a:t>
              </a:r>
              <a:endParaRPr sz="1250" b="1" i="0" dirty="0">
                <a:solidFill>
                  <a:srgbClr val="1F497D"/>
                </a:solidFill>
                <a:latin typeface="Arial"/>
              </a:endParaRP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F4C089A-C4C3-83AD-3101-DED26933B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07709"/>
              </p:ext>
            </p:extLst>
          </p:nvPr>
        </p:nvGraphicFramePr>
        <p:xfrm>
          <a:off x="548313" y="3151748"/>
          <a:ext cx="5330953" cy="263518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041478">
                  <a:extLst>
                    <a:ext uri="{9D8B030D-6E8A-4147-A177-3AD203B41FA5}">
                      <a16:colId xmlns:a16="http://schemas.microsoft.com/office/drawing/2014/main" val="1210319951"/>
                    </a:ext>
                  </a:extLst>
                </a:gridCol>
                <a:gridCol w="3289475">
                  <a:extLst>
                    <a:ext uri="{9D8B030D-6E8A-4147-A177-3AD203B41FA5}">
                      <a16:colId xmlns:a16="http://schemas.microsoft.com/office/drawing/2014/main" val="331968696"/>
                    </a:ext>
                  </a:extLst>
                </a:gridCol>
              </a:tblGrid>
              <a:tr h="2820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Feature</a:t>
                      </a:r>
                      <a:endParaRPr lang="en-IN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970107"/>
                  </a:ext>
                </a:extLst>
              </a:tr>
              <a:tr h="6470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Real Weather vs Broken Sensor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Compares each station with up to 6 neighbours within 100 km. Storms and heatwaves that hit neighbours too are kept; a lone outlier is flagged.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553804"/>
                  </a:ext>
                </a:extLst>
              </a:tr>
              <a:tr h="4645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Five Layers of Evidence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Quick checks, dew-point physics, the station’s own AI (IsolationForest + autoencoder), neighbour check, and learned fusion into one fault probability.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861596"/>
                  </a:ext>
                </a:extLst>
              </a:tr>
              <a:tr h="478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dirty="0"/>
                        <a:t>Explains Every Alert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Plain-language reason, root cause (7 types), confidence, severity, corrected value and a suggested repair action.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785671"/>
                  </a:ext>
                </a:extLst>
              </a:tr>
              <a:tr h="6470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Predicts Maintenance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Tracks each sensor’s drift and estimates the days left before it goes out of tolerance. A 112-byte edge check runs on the station itself.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94109393"/>
                  </a:ext>
                </a:extLst>
              </a:tr>
            </a:tbl>
          </a:graphicData>
        </a:graphic>
      </p:graphicFrame>
      <p:pic>
        <p:nvPicPr>
          <p:cNvPr id="15402" name="Picture 15401" descr="ther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8113" y="5863008"/>
            <a:ext cx="479030" cy="479030"/>
          </a:xfrm>
          <a:prstGeom prst="rect">
            <a:avLst/>
          </a:prstGeom>
        </p:spPr>
      </p:pic>
      <p:pic>
        <p:nvPicPr>
          <p:cNvPr id="15403" name="Picture 15402" descr="drop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44364" y="5872600"/>
            <a:ext cx="422624" cy="422624"/>
          </a:xfrm>
          <a:prstGeom prst="rect">
            <a:avLst/>
          </a:prstGeom>
        </p:spPr>
      </p:pic>
      <p:pic>
        <p:nvPicPr>
          <p:cNvPr id="15404" name="Picture 15403" descr="gau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82335" y="5872600"/>
            <a:ext cx="422625" cy="422625"/>
          </a:xfrm>
          <a:prstGeom prst="rect">
            <a:avLst/>
          </a:prstGeom>
        </p:spPr>
      </p:pic>
      <p:pic>
        <p:nvPicPr>
          <p:cNvPr id="15405" name="Picture 15404" descr="tow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20307" y="5872600"/>
            <a:ext cx="422625" cy="422625"/>
          </a:xfrm>
          <a:prstGeom prst="rect">
            <a:avLst/>
          </a:prstGeom>
        </p:spPr>
      </p:pic>
      <p:pic>
        <p:nvPicPr>
          <p:cNvPr id="15406" name="Picture 15405" descr="map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57600" y="5856410"/>
            <a:ext cx="479030" cy="479030"/>
          </a:xfrm>
          <a:prstGeom prst="rect">
            <a:avLst/>
          </a:prstGeom>
        </p:spPr>
      </p:pic>
      <p:pic>
        <p:nvPicPr>
          <p:cNvPr id="15407" name="Picture 15406" descr="brai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4566" y="5864142"/>
            <a:ext cx="460851" cy="460851"/>
          </a:xfrm>
          <a:prstGeom prst="rect">
            <a:avLst/>
          </a:prstGeom>
        </p:spPr>
      </p:pic>
      <p:pic>
        <p:nvPicPr>
          <p:cNvPr id="15408" name="Picture 15407" descr="shiel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88906" y="5873988"/>
            <a:ext cx="414583" cy="414583"/>
          </a:xfrm>
          <a:prstGeom prst="rect">
            <a:avLst/>
          </a:prstGeom>
        </p:spPr>
      </p:pic>
      <p:pic>
        <p:nvPicPr>
          <p:cNvPr id="15409" name="Picture 15408" descr="aler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64508" y="5855070"/>
            <a:ext cx="457684" cy="45768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5D557F4-3C1C-2AA9-5D8F-6658992010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0536" y="4245311"/>
            <a:ext cx="710360" cy="71036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667622B-CC53-4A22-B422-226CE8693F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6859" y="5492121"/>
            <a:ext cx="623235" cy="62323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CDD89B2-0B36-9BA2-6BC9-46D3AE91F7FF}"/>
              </a:ext>
            </a:extLst>
          </p:cNvPr>
          <p:cNvGrpSpPr/>
          <p:nvPr/>
        </p:nvGrpSpPr>
        <p:grpSpPr>
          <a:xfrm>
            <a:off x="8989907" y="1173319"/>
            <a:ext cx="5655520" cy="251396"/>
            <a:chOff x="365760" y="2724912"/>
            <a:chExt cx="5532120" cy="22402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CA6F093-0A7A-E28F-E4A6-6DC353D4ED73}"/>
                </a:ext>
              </a:extLst>
            </p:cNvPr>
            <p:cNvSpPr/>
            <p:nvPr/>
          </p:nvSpPr>
          <p:spPr>
            <a:xfrm>
              <a:off x="365760" y="2766060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7234AA-69CE-18BE-4E05-A1D6A665B57E}"/>
                </a:ext>
              </a:extLst>
            </p:cNvPr>
            <p:cNvSpPr txBox="1"/>
            <p:nvPr/>
          </p:nvSpPr>
          <p:spPr>
            <a:xfrm>
              <a:off x="566928" y="2724912"/>
              <a:ext cx="5330952" cy="1714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lang="en-US" sz="1250" b="1" i="0" dirty="0">
                  <a:solidFill>
                    <a:srgbClr val="1F497D"/>
                  </a:solidFill>
                  <a:latin typeface="Arial"/>
                </a:rPr>
                <a:t>System Workflow</a:t>
              </a:r>
              <a:endParaRPr sz="1250" b="1" i="0" dirty="0">
                <a:solidFill>
                  <a:srgbClr val="1F497D"/>
                </a:solidFill>
                <a:latin typeface="Arial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5DEFF42-E9AD-DA3A-F344-4A5106FE9F74}"/>
              </a:ext>
            </a:extLst>
          </p:cNvPr>
          <p:cNvSpPr/>
          <p:nvPr/>
        </p:nvSpPr>
        <p:spPr>
          <a:xfrm>
            <a:off x="6152501" y="2326639"/>
            <a:ext cx="36000" cy="11023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47F1079-8887-8340-047D-9086F9B85593}"/>
              </a:ext>
            </a:extLst>
          </p:cNvPr>
          <p:cNvSpPr/>
          <p:nvPr/>
        </p:nvSpPr>
        <p:spPr>
          <a:xfrm>
            <a:off x="6105380" y="2275739"/>
            <a:ext cx="130192" cy="12821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5D8A7C06-E797-03F8-3E3F-DC57DE502EE1}"/>
              </a:ext>
            </a:extLst>
          </p:cNvPr>
          <p:cNvSpPr/>
          <p:nvPr/>
        </p:nvSpPr>
        <p:spPr>
          <a:xfrm>
            <a:off x="6105380" y="2780694"/>
            <a:ext cx="130192" cy="12821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02068EB-6C44-56A1-850A-6D5DF979E887}"/>
              </a:ext>
            </a:extLst>
          </p:cNvPr>
          <p:cNvSpPr/>
          <p:nvPr/>
        </p:nvSpPr>
        <p:spPr>
          <a:xfrm>
            <a:off x="6726648" y="2162726"/>
            <a:ext cx="2130409" cy="4074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FE5E150-C8ED-0032-7BBE-E6CBDA7CDC20}"/>
              </a:ext>
            </a:extLst>
          </p:cNvPr>
          <p:cNvSpPr/>
          <p:nvPr/>
        </p:nvSpPr>
        <p:spPr>
          <a:xfrm>
            <a:off x="6105380" y="3377619"/>
            <a:ext cx="130192" cy="12821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92" name="TextBox 15391"/>
          <p:cNvSpPr txBox="1"/>
          <p:nvPr/>
        </p:nvSpPr>
        <p:spPr>
          <a:xfrm>
            <a:off x="7084381" y="2190163"/>
            <a:ext cx="181408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A sensor drifts, sticks or spikes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693B02F-F65D-A1D3-8984-B25FCDA483E1}"/>
              </a:ext>
            </a:extLst>
          </p:cNvPr>
          <p:cNvSpPr/>
          <p:nvPr/>
        </p:nvSpPr>
        <p:spPr>
          <a:xfrm>
            <a:off x="6736809" y="2731686"/>
            <a:ext cx="2120248" cy="4074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410" name="Picture 15409" descr="wrench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43349" y="2198232"/>
            <a:ext cx="343031" cy="343031"/>
          </a:xfrm>
          <a:prstGeom prst="rect">
            <a:avLst/>
          </a:prstGeom>
        </p:spPr>
      </p:pic>
      <p:sp>
        <p:nvSpPr>
          <p:cNvPr id="15394" name="TextBox 15393"/>
          <p:cNvSpPr txBox="1"/>
          <p:nvPr/>
        </p:nvSpPr>
        <p:spPr>
          <a:xfrm>
            <a:off x="7084381" y="2755065"/>
            <a:ext cx="181408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Bad data enters forecasts and warnings</a:t>
            </a:r>
          </a:p>
        </p:txBody>
      </p:sp>
      <p:pic>
        <p:nvPicPr>
          <p:cNvPr id="15411" name="Picture 15410" descr="shar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38474" y="2749204"/>
            <a:ext cx="383723" cy="383723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BBD8D2B-7913-2944-EF1A-2654C1CC0F6C}"/>
              </a:ext>
            </a:extLst>
          </p:cNvPr>
          <p:cNvSpPr/>
          <p:nvPr/>
        </p:nvSpPr>
        <p:spPr>
          <a:xfrm>
            <a:off x="6736809" y="3289441"/>
            <a:ext cx="2120248" cy="6180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96" name="TextBox 15395"/>
          <p:cNvSpPr txBox="1"/>
          <p:nvPr/>
        </p:nvSpPr>
        <p:spPr>
          <a:xfrm>
            <a:off x="7122197" y="3315289"/>
            <a:ext cx="1609868" cy="561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50" b="0" i="0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- Real extremes deleted.</a:t>
            </a:r>
            <a:endParaRPr lang="en-US" sz="1050" b="0" i="0" dirty="0">
              <a:solidFill>
                <a:schemeClr val="accent2">
                  <a:lumMod val="50000"/>
                </a:schemeClr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lang="en-US" sz="1050" b="0" i="0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- Faults go unseen.</a:t>
            </a:r>
            <a:endParaRPr lang="en-US" sz="1050" b="0" i="0" dirty="0">
              <a:solidFill>
                <a:schemeClr val="accent2">
                  <a:lumMod val="50000"/>
                </a:schemeClr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lang="en-US" sz="1050" b="0" i="0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- Repairs come late.</a:t>
            </a:r>
            <a:endParaRPr sz="1050" b="0" i="0" dirty="0">
              <a:solidFill>
                <a:schemeClr val="accent2">
                  <a:lumMod val="50000"/>
                </a:schemeClr>
              </a:solidFill>
              <a:latin typeface="Arial"/>
            </a:endParaRPr>
          </a:p>
        </p:txBody>
      </p:sp>
      <p:pic>
        <p:nvPicPr>
          <p:cNvPr id="15412" name="Picture 15411" descr="ey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81694" y="3419846"/>
            <a:ext cx="302687" cy="302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Secure</a:t>
            </a:r>
          </a:p>
          <a:p>
            <a:pPr algn="ctr"/>
            <a:r>
              <a:rPr lang="en-US" dirty="0"/>
              <a:t>OOPS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229868"/>
            <a:ext cx="91440" cy="1828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188720"/>
            <a:ext cx="6473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dirty="0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489C58-1FB1-A746-357E-ABF8A156D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228568"/>
              </p:ext>
            </p:extLst>
          </p:nvPr>
        </p:nvGraphicFramePr>
        <p:xfrm>
          <a:off x="566928" y="1483093"/>
          <a:ext cx="4531360" cy="3899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1507406325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917880935"/>
                    </a:ext>
                  </a:extLst>
                </a:gridCol>
              </a:tblGrid>
              <a:tr h="3711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  <a:endParaRPr lang="en-IN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9582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94526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65004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/ ML</a:t>
                      </a:r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1095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752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Streaming</a:t>
                      </a:r>
                      <a:endParaRPr lang="en-IN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8047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  <a:endParaRPr lang="en-IN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74938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</a:t>
                      </a:r>
                      <a:endParaRPr lang="en-IN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/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52031"/>
                  </a:ext>
                </a:extLst>
              </a:tr>
            </a:tbl>
          </a:graphicData>
        </a:graphic>
      </p:graphicFrame>
      <p:pic>
        <p:nvPicPr>
          <p:cNvPr id="17423" name="Picture 1742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23041" y="4246120"/>
            <a:ext cx="2375747" cy="2087362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pic>
        <p:nvPicPr>
          <p:cNvPr id="17422" name="Picture 1742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12658" y="1074304"/>
            <a:ext cx="6548518" cy="2964296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pic>
        <p:nvPicPr>
          <p:cNvPr id="17424" name="Picture 1742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63084" y="4246120"/>
            <a:ext cx="1938719" cy="2076471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A6DC2E42-A2D5-B673-6A08-1AB6494FD64F}"/>
              </a:ext>
            </a:extLst>
          </p:cNvPr>
          <p:cNvSpPr/>
          <p:nvPr/>
        </p:nvSpPr>
        <p:spPr>
          <a:xfrm>
            <a:off x="8549454" y="5233707"/>
            <a:ext cx="862964" cy="158865"/>
          </a:xfrm>
          <a:prstGeom prst="rightArrow">
            <a:avLst>
              <a:gd name="adj1" fmla="val 38808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0F311D1-4961-6DC5-7382-8B4C4A251842}"/>
              </a:ext>
            </a:extLst>
          </p:cNvPr>
          <p:cNvSpPr/>
          <p:nvPr/>
        </p:nvSpPr>
        <p:spPr>
          <a:xfrm rot="5400000">
            <a:off x="6920104" y="4094989"/>
            <a:ext cx="160020" cy="815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9F2AA6-9E15-58F7-6281-6B3EEB8C524A}"/>
              </a:ext>
            </a:extLst>
          </p:cNvPr>
          <p:cNvSpPr txBox="1"/>
          <p:nvPr/>
        </p:nvSpPr>
        <p:spPr>
          <a:xfrm>
            <a:off x="8408188" y="4431658"/>
            <a:ext cx="11454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latin typeface="Arial" panose="020B0604020202020204" pitchFamily="34" charset="0"/>
                <a:cs typeface="Arial" panose="020B0604020202020204" pitchFamily="34" charset="0"/>
              </a:rPr>
              <a:t>COMPARES THE STATION WITH ITS NEIGHBOURS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D134DE-EEE5-63E0-4C61-4A34C5B188A6}"/>
              </a:ext>
            </a:extLst>
          </p:cNvPr>
          <p:cNvSpPr txBox="1"/>
          <p:nvPr/>
        </p:nvSpPr>
        <p:spPr>
          <a:xfrm>
            <a:off x="8458954" y="5335979"/>
            <a:ext cx="1043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latin typeface="Arial" panose="020B0604020202020204" pitchFamily="34" charset="0"/>
                <a:cs typeface="Arial" panose="020B0604020202020204" pitchFamily="34" charset="0"/>
              </a:rPr>
              <a:t>THEN EXPLAINS WHY IN PLAIN WORDS</a:t>
            </a:r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1E89D58B-742B-FECC-E9DC-79D03D93D0A8}"/>
              </a:ext>
            </a:extLst>
          </p:cNvPr>
          <p:cNvSpPr/>
          <p:nvPr/>
        </p:nvSpPr>
        <p:spPr>
          <a:xfrm>
            <a:off x="3888760" y="5487439"/>
            <a:ext cx="1528383" cy="806395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</a:t>
            </a:r>
            <a:endParaRPr lang="en-IN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loud 44">
            <a:extLst>
              <a:ext uri="{FF2B5EF4-FFF2-40B4-BE49-F238E27FC236}">
                <a16:creationId xmlns:a16="http://schemas.microsoft.com/office/drawing/2014/main" id="{CABFC0FF-E348-346A-F60B-461B027768A4}"/>
              </a:ext>
            </a:extLst>
          </p:cNvPr>
          <p:cNvSpPr/>
          <p:nvPr/>
        </p:nvSpPr>
        <p:spPr>
          <a:xfrm>
            <a:off x="115911" y="5465283"/>
            <a:ext cx="1528383" cy="806395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 Video</a:t>
            </a:r>
            <a:endParaRPr lang="en-IN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BFD7EC7D-5A20-F9A7-EC8A-27E171745F4D}"/>
              </a:ext>
            </a:extLst>
          </p:cNvPr>
          <p:cNvSpPr/>
          <p:nvPr/>
        </p:nvSpPr>
        <p:spPr>
          <a:xfrm>
            <a:off x="1706120" y="5752365"/>
            <a:ext cx="2140441" cy="25302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90C203B-B25B-53C7-F6F9-CF3E7D2DD825}"/>
              </a:ext>
            </a:extLst>
          </p:cNvPr>
          <p:cNvSpPr/>
          <p:nvPr/>
        </p:nvSpPr>
        <p:spPr>
          <a:xfrm>
            <a:off x="1961327" y="5469717"/>
            <a:ext cx="1632789" cy="811022"/>
          </a:xfrm>
          <a:prstGeom prst="roundRect">
            <a:avLst>
              <a:gd name="adj" fmla="val 4746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Prototype and Project Source Code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7415" name="Picture 17414" descr="strip_interfac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57248" y="1884200"/>
            <a:ext cx="2752800" cy="444000"/>
          </a:xfrm>
          <a:prstGeom prst="rect">
            <a:avLst/>
          </a:prstGeom>
        </p:spPr>
      </p:pic>
      <p:pic>
        <p:nvPicPr>
          <p:cNvPr id="17416" name="Picture 17415" descr="strip_engin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57248" y="2388200"/>
            <a:ext cx="2752800" cy="444000"/>
          </a:xfrm>
          <a:prstGeom prst="rect">
            <a:avLst/>
          </a:prstGeom>
        </p:spPr>
      </p:pic>
      <p:pic>
        <p:nvPicPr>
          <p:cNvPr id="17417" name="Picture 17416" descr="strip_ml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57248" y="2892200"/>
            <a:ext cx="2752800" cy="444000"/>
          </a:xfrm>
          <a:prstGeom prst="rect">
            <a:avLst/>
          </a:prstGeom>
        </p:spPr>
      </p:pic>
      <p:pic>
        <p:nvPicPr>
          <p:cNvPr id="17418" name="Picture 17417" descr="strip_physics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57248" y="3396200"/>
            <a:ext cx="2752800" cy="444000"/>
          </a:xfrm>
          <a:prstGeom prst="rect">
            <a:avLst/>
          </a:prstGeom>
        </p:spPr>
      </p:pic>
      <p:pic>
        <p:nvPicPr>
          <p:cNvPr id="17419" name="Picture 17418" descr="strip_stream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57248" y="3900200"/>
            <a:ext cx="2752800" cy="444000"/>
          </a:xfrm>
          <a:prstGeom prst="rect">
            <a:avLst/>
          </a:prstGeom>
        </p:spPr>
      </p:pic>
      <p:pic>
        <p:nvPicPr>
          <p:cNvPr id="17420" name="Picture 17419" descr="strip_ed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57248" y="4404200"/>
            <a:ext cx="2752800" cy="444000"/>
          </a:xfrm>
          <a:prstGeom prst="rect">
            <a:avLst/>
          </a:prstGeom>
        </p:spPr>
      </p:pic>
      <p:pic>
        <p:nvPicPr>
          <p:cNvPr id="17421" name="Picture 17420" descr="strip_health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157248" y="4908200"/>
            <a:ext cx="2752800" cy="4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Secure</a:t>
            </a:r>
          </a:p>
          <a:p>
            <a:pPr algn="ctr"/>
            <a:r>
              <a:rPr lang="en-US" dirty="0"/>
              <a:t>OOPS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229868"/>
            <a:ext cx="91440" cy="1828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188720"/>
            <a:ext cx="11228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517904"/>
            <a:ext cx="3675887" cy="1005840"/>
          </a:xfrm>
          <a:prstGeom prst="roundRect">
            <a:avLst>
              <a:gd name="adj" fmla="val 9000"/>
            </a:avLst>
          </a:prstGeom>
          <a:solidFill>
            <a:srgbClr val="E8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512064" y="1609344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dirty="0">
                <a:solidFill>
                  <a:srgbClr val="0284C7"/>
                </a:solidFill>
                <a:latin typeface="Arial"/>
              </a:rPr>
              <a:t>NO SPECIAL DATA NEEDED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12064" y="1865376"/>
            <a:ext cx="2586736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0" i="0" dirty="0">
                <a:solidFill>
                  <a:srgbClr val="4E5C69"/>
                </a:solidFill>
                <a:latin typeface="Arial"/>
              </a:rPr>
              <a:t>Uses only the three readings every AWS already sends each minute, plus station locations. No new hardware.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87952" y="1517904"/>
            <a:ext cx="3675887" cy="1005840"/>
          </a:xfrm>
          <a:prstGeom prst="roundRect">
            <a:avLst>
              <a:gd name="adj" fmla="val 9000"/>
            </a:avLst>
          </a:prstGeom>
          <a:solidFill>
            <a:srgbClr val="E8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334256" y="1609344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dirty="0">
                <a:solidFill>
                  <a:srgbClr val="059669"/>
                </a:solidFill>
                <a:latin typeface="Arial"/>
              </a:rPr>
              <a:t>LEARNS FROM NORMAL 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34255" y="1865376"/>
            <a:ext cx="26050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 dirty="0">
                <a:solidFill>
                  <a:srgbClr val="4E5C69"/>
                </a:solidFill>
                <a:latin typeface="Arial"/>
              </a:rPr>
              <a:t>Trains on clean station history. No large set of labelled real faults is needed to start.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10144" y="1517904"/>
            <a:ext cx="3675887" cy="1005840"/>
          </a:xfrm>
          <a:prstGeom prst="roundRect">
            <a:avLst>
              <a:gd name="adj" fmla="val 9000"/>
            </a:avLst>
          </a:prstGeom>
          <a:solidFill>
            <a:srgbClr val="E8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8156448" y="1609344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dirty="0">
                <a:solidFill>
                  <a:srgbClr val="7C3AED"/>
                </a:solidFill>
                <a:latin typeface="Arial"/>
              </a:rPr>
              <a:t>PROTOTYPE ALREADY WORKS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56448" y="1865376"/>
            <a:ext cx="253188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 dirty="0">
                <a:solidFill>
                  <a:srgbClr val="4E5C69"/>
                </a:solidFill>
                <a:latin typeface="Arial"/>
              </a:rPr>
              <a:t>Working engine caught 99.5% of 550 injected faults with 0.002 false alarms per station-day (simulated data).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65760" y="2729484"/>
            <a:ext cx="91440" cy="1828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566928" y="2688336"/>
            <a:ext cx="53309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497D"/>
                </a:solidFill>
                <a:latin typeface="Arial"/>
              </a:rPr>
              <a:t>Potential challenges and risks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85A66F-C6CC-C9C0-6CD1-4A97C5E32150}"/>
              </a:ext>
            </a:extLst>
          </p:cNvPr>
          <p:cNvGrpSpPr/>
          <p:nvPr/>
        </p:nvGrpSpPr>
        <p:grpSpPr>
          <a:xfrm>
            <a:off x="4900241" y="2679192"/>
            <a:ext cx="5532119" cy="256032"/>
            <a:chOff x="6263640" y="2688336"/>
            <a:chExt cx="5532119" cy="256032"/>
          </a:xfrm>
        </p:grpSpPr>
        <p:sp>
          <p:nvSpPr>
            <p:cNvPr id="17423" name="Rectangle 17422"/>
            <p:cNvSpPr/>
            <p:nvPr/>
          </p:nvSpPr>
          <p:spPr>
            <a:xfrm>
              <a:off x="6263640" y="2729484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TextBox 17423"/>
            <p:cNvSpPr txBox="1"/>
            <p:nvPr/>
          </p:nvSpPr>
          <p:spPr>
            <a:xfrm>
              <a:off x="6464807" y="2688336"/>
              <a:ext cx="5330952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50" b="1" i="0" dirty="0">
                  <a:solidFill>
                    <a:srgbClr val="1F497D"/>
                  </a:solidFill>
                  <a:latin typeface="Arial"/>
                </a:rPr>
                <a:t>Strategies for overcoming these challenges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6F71BB3-A152-0EEF-6E8D-5E4110C877C0}"/>
              </a:ext>
            </a:extLst>
          </p:cNvPr>
          <p:cNvGrpSpPr/>
          <p:nvPr/>
        </p:nvGrpSpPr>
        <p:grpSpPr>
          <a:xfrm>
            <a:off x="365760" y="3035808"/>
            <a:ext cx="8575040" cy="3035808"/>
            <a:chOff x="365760" y="3035808"/>
            <a:chExt cx="11430000" cy="3035808"/>
          </a:xfrm>
        </p:grpSpPr>
        <p:sp>
          <p:nvSpPr>
            <p:cNvPr id="17425" name="Rounded Rectangle 17424"/>
            <p:cNvSpPr/>
            <p:nvPr/>
          </p:nvSpPr>
          <p:spPr>
            <a:xfrm>
              <a:off x="365760" y="3035808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FAE7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6" name="TextBox 17425"/>
            <p:cNvSpPr txBox="1"/>
            <p:nvPr/>
          </p:nvSpPr>
          <p:spPr>
            <a:xfrm>
              <a:off x="512065" y="3099815"/>
              <a:ext cx="5239512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1" i="0" dirty="0">
                  <a:solidFill>
                    <a:srgbClr val="B53A38"/>
                  </a:solidFill>
                  <a:latin typeface="Arial"/>
                </a:rPr>
                <a:t>Simulation is not real data</a:t>
              </a:r>
            </a:p>
          </p:txBody>
        </p:sp>
        <p:sp>
          <p:nvSpPr>
            <p:cNvPr id="17427" name="TextBox 17426"/>
            <p:cNvSpPr txBox="1"/>
            <p:nvPr/>
          </p:nvSpPr>
          <p:spPr>
            <a:xfrm>
              <a:off x="512065" y="3319272"/>
              <a:ext cx="5239512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Our results come from a simulated 57-station network, and real IMD data will differ.</a:t>
              </a:r>
            </a:p>
          </p:txBody>
        </p:sp>
        <p:sp>
          <p:nvSpPr>
            <p:cNvPr id="17428" name="Rounded Rectangle 17427"/>
            <p:cNvSpPr/>
            <p:nvPr/>
          </p:nvSpPr>
          <p:spPr>
            <a:xfrm>
              <a:off x="6263640" y="3035808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E8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9" name="TextBox 17428"/>
            <p:cNvSpPr txBox="1"/>
            <p:nvPr/>
          </p:nvSpPr>
          <p:spPr>
            <a:xfrm>
              <a:off x="6409944" y="3220246"/>
              <a:ext cx="5239512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Retrain on IMD history and pilot on a few stations first, with an engineer reviewing alerts.</a:t>
              </a:r>
            </a:p>
          </p:txBody>
        </p:sp>
        <p:sp>
          <p:nvSpPr>
            <p:cNvPr id="17430" name="Right Arrow 17429"/>
            <p:cNvSpPr/>
            <p:nvPr/>
          </p:nvSpPr>
          <p:spPr>
            <a:xfrm>
              <a:off x="5971032" y="3300984"/>
              <a:ext cx="182880" cy="155448"/>
            </a:xfrm>
            <a:prstGeom prst="rightArrow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Rounded Rectangle 17430"/>
            <p:cNvSpPr/>
            <p:nvPr/>
          </p:nvSpPr>
          <p:spPr>
            <a:xfrm>
              <a:off x="365760" y="3822191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FAE7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2" name="TextBox 17431"/>
            <p:cNvSpPr txBox="1"/>
            <p:nvPr/>
          </p:nvSpPr>
          <p:spPr>
            <a:xfrm>
              <a:off x="512065" y="3886200"/>
              <a:ext cx="5239512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1" i="0" dirty="0">
                  <a:solidFill>
                    <a:srgbClr val="B53A38"/>
                  </a:solidFill>
                  <a:latin typeface="Arial"/>
                </a:rPr>
                <a:t>Slow drift is subtle</a:t>
              </a:r>
            </a:p>
          </p:txBody>
        </p:sp>
        <p:sp>
          <p:nvSpPr>
            <p:cNvPr id="17433" name="TextBox 17432"/>
            <p:cNvSpPr txBox="1"/>
            <p:nvPr/>
          </p:nvSpPr>
          <p:spPr>
            <a:xfrm>
              <a:off x="512065" y="4105655"/>
              <a:ext cx="5239512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A slowly drifting sensor looks like normal weather change.</a:t>
              </a:r>
            </a:p>
          </p:txBody>
        </p:sp>
        <p:sp>
          <p:nvSpPr>
            <p:cNvPr id="17434" name="Rounded Rectangle 17433"/>
            <p:cNvSpPr/>
            <p:nvPr/>
          </p:nvSpPr>
          <p:spPr>
            <a:xfrm>
              <a:off x="6263640" y="3822191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E8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5" name="TextBox 17434"/>
            <p:cNvSpPr txBox="1"/>
            <p:nvPr/>
          </p:nvSpPr>
          <p:spPr>
            <a:xfrm>
              <a:off x="6409944" y="3929687"/>
              <a:ext cx="5239512" cy="461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Compare with neighbours over 72 hours and estimate the drift rate and days to tolerance.</a:t>
              </a:r>
            </a:p>
          </p:txBody>
        </p:sp>
        <p:sp>
          <p:nvSpPr>
            <p:cNvPr id="17436" name="Right Arrow 17435"/>
            <p:cNvSpPr/>
            <p:nvPr/>
          </p:nvSpPr>
          <p:spPr>
            <a:xfrm>
              <a:off x="5971032" y="4087368"/>
              <a:ext cx="182880" cy="155448"/>
            </a:xfrm>
            <a:prstGeom prst="rightArrow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7" name="Rounded Rectangle 17436"/>
            <p:cNvSpPr/>
            <p:nvPr/>
          </p:nvSpPr>
          <p:spPr>
            <a:xfrm>
              <a:off x="365760" y="4608576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FAE7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8" name="TextBox 17437"/>
            <p:cNvSpPr txBox="1"/>
            <p:nvPr/>
          </p:nvSpPr>
          <p:spPr>
            <a:xfrm>
              <a:off x="512065" y="4672584"/>
              <a:ext cx="5239512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1" i="0" dirty="0">
                  <a:solidFill>
                    <a:srgbClr val="B53A38"/>
                  </a:solidFill>
                  <a:latin typeface="Arial"/>
                </a:rPr>
                <a:t>Isolated stations</a:t>
              </a:r>
            </a:p>
          </p:txBody>
        </p:sp>
        <p:sp>
          <p:nvSpPr>
            <p:cNvPr id="17439" name="TextBox 17438"/>
            <p:cNvSpPr txBox="1"/>
            <p:nvPr/>
          </p:nvSpPr>
          <p:spPr>
            <a:xfrm>
              <a:off x="512065" y="4892040"/>
              <a:ext cx="5239512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A remote station (e.g. Leh) has no neighbours to compare with.</a:t>
              </a:r>
            </a:p>
          </p:txBody>
        </p:sp>
        <p:sp>
          <p:nvSpPr>
            <p:cNvPr id="17440" name="Rounded Rectangle 17439"/>
            <p:cNvSpPr/>
            <p:nvPr/>
          </p:nvSpPr>
          <p:spPr>
            <a:xfrm>
              <a:off x="6263640" y="4608576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E8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1" name="TextBox 17440"/>
            <p:cNvSpPr txBox="1"/>
            <p:nvPr/>
          </p:nvSpPr>
          <p:spPr>
            <a:xfrm>
              <a:off x="6409944" y="4793015"/>
              <a:ext cx="5239512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Fall back to physics and its own history. Jumps, stuck values and dropouts are still caught.</a:t>
              </a:r>
            </a:p>
          </p:txBody>
        </p:sp>
        <p:sp>
          <p:nvSpPr>
            <p:cNvPr id="17442" name="Right Arrow 17441"/>
            <p:cNvSpPr/>
            <p:nvPr/>
          </p:nvSpPr>
          <p:spPr>
            <a:xfrm>
              <a:off x="5971032" y="4873752"/>
              <a:ext cx="182880" cy="155448"/>
            </a:xfrm>
            <a:prstGeom prst="rightArrow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3" name="Rounded Rectangle 17442"/>
            <p:cNvSpPr/>
            <p:nvPr/>
          </p:nvSpPr>
          <p:spPr>
            <a:xfrm>
              <a:off x="365760" y="5394960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FAE7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4" name="TextBox 17443"/>
            <p:cNvSpPr txBox="1"/>
            <p:nvPr/>
          </p:nvSpPr>
          <p:spPr>
            <a:xfrm>
              <a:off x="512065" y="5458968"/>
              <a:ext cx="5239512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1" i="0" dirty="0">
                  <a:solidFill>
                    <a:srgbClr val="B53A38"/>
                  </a:solidFill>
                  <a:latin typeface="Arial"/>
                </a:rPr>
                <a:t>Speed at scale</a:t>
              </a:r>
            </a:p>
          </p:txBody>
        </p:sp>
        <p:sp>
          <p:nvSpPr>
            <p:cNvPr id="17445" name="TextBox 17444"/>
            <p:cNvSpPr txBox="1"/>
            <p:nvPr/>
          </p:nvSpPr>
          <p:spPr>
            <a:xfrm>
              <a:off x="512065" y="5678424"/>
              <a:ext cx="5239512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All stations must be scored every minute.</a:t>
              </a:r>
            </a:p>
          </p:txBody>
        </p:sp>
        <p:sp>
          <p:nvSpPr>
            <p:cNvPr id="17446" name="Rounded Rectangle 17445"/>
            <p:cNvSpPr/>
            <p:nvPr/>
          </p:nvSpPr>
          <p:spPr>
            <a:xfrm>
              <a:off x="6263640" y="5394960"/>
              <a:ext cx="5532120" cy="676656"/>
            </a:xfrm>
            <a:prstGeom prst="roundRect">
              <a:avLst>
                <a:gd name="adj" fmla="val 9000"/>
              </a:avLst>
            </a:prstGeom>
            <a:solidFill>
              <a:srgbClr val="E8F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7" name="TextBox 17446"/>
            <p:cNvSpPr txBox="1"/>
            <p:nvPr/>
          </p:nvSpPr>
          <p:spPr>
            <a:xfrm>
              <a:off x="6409944" y="5579399"/>
              <a:ext cx="5239512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000" b="0" i="0" dirty="0">
                  <a:solidFill>
                    <a:srgbClr val="4E5C69"/>
                  </a:solidFill>
                  <a:latin typeface="Arial"/>
                </a:rPr>
                <a:t>Measured about 0.6 s per minute for 57 stations; light edge checks cut the load.</a:t>
              </a:r>
            </a:p>
          </p:txBody>
        </p:sp>
        <p:sp>
          <p:nvSpPr>
            <p:cNvPr id="17448" name="Right Arrow 17447"/>
            <p:cNvSpPr/>
            <p:nvPr/>
          </p:nvSpPr>
          <p:spPr>
            <a:xfrm>
              <a:off x="5971032" y="5660136"/>
              <a:ext cx="182880" cy="155448"/>
            </a:xfrm>
            <a:prstGeom prst="rightArrow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45792A5-BDCA-49D8-716B-79E2B695E7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149190"/>
              </p:ext>
            </p:extLst>
          </p:nvPr>
        </p:nvGraphicFramePr>
        <p:xfrm>
          <a:off x="8466961" y="2794359"/>
          <a:ext cx="3930798" cy="3522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C31092CE-46CB-3C97-DAF7-1C7A2E16EF10}"/>
              </a:ext>
            </a:extLst>
          </p:cNvPr>
          <p:cNvGrpSpPr/>
          <p:nvPr/>
        </p:nvGrpSpPr>
        <p:grpSpPr>
          <a:xfrm>
            <a:off x="8975956" y="2654807"/>
            <a:ext cx="4096173" cy="224028"/>
            <a:chOff x="365760" y="1188720"/>
            <a:chExt cx="4096173" cy="22402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67EFF0-CAE5-1A1E-64C3-4BEA45EA1438}"/>
                </a:ext>
              </a:extLst>
            </p:cNvPr>
            <p:cNvSpPr/>
            <p:nvPr/>
          </p:nvSpPr>
          <p:spPr>
            <a:xfrm>
              <a:off x="365760" y="1229868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4FF34E0-4519-3B67-2D2D-8951591E71AC}"/>
                </a:ext>
              </a:extLst>
            </p:cNvPr>
            <p:cNvSpPr txBox="1"/>
            <p:nvPr/>
          </p:nvSpPr>
          <p:spPr>
            <a:xfrm>
              <a:off x="566928" y="1188720"/>
              <a:ext cx="3895005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Comparison with Other Systems</a:t>
              </a:r>
              <a:endParaRPr lang="en-US" sz="1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3990969-40D1-B04E-C6B1-4F600F7CD153}"/>
              </a:ext>
            </a:extLst>
          </p:cNvPr>
          <p:cNvSpPr txBox="1"/>
          <p:nvPr/>
        </p:nvSpPr>
        <p:spPr>
          <a:xfrm>
            <a:off x="9497906" y="5811027"/>
            <a:ext cx="22185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arenR"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Supported</a:t>
            </a:r>
          </a:p>
          <a:p>
            <a:pPr marL="228600" indent="-228600">
              <a:buAutoNum type="arabicParenR"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/ Manual Dependency </a:t>
            </a:r>
          </a:p>
          <a:p>
            <a:pPr marL="228600" indent="-228600">
              <a:buAutoNum type="arabicParenR"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Automated / Real-Time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64E032-65C4-E24C-F763-4164B9C63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257" y="1626950"/>
            <a:ext cx="778239" cy="7782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79540B-9E33-3119-8D7A-7E04EC7CA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600" y="1663525"/>
            <a:ext cx="705088" cy="7050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D5864E-0C98-94FD-E16C-8377CB4F8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0631" y="1634794"/>
            <a:ext cx="845296" cy="8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Secure</a:t>
            </a:r>
          </a:p>
          <a:p>
            <a:pPr algn="ctr"/>
            <a:r>
              <a:rPr lang="en-US" dirty="0"/>
              <a:t>OOPS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FC2180E-36B5-ACDF-9465-4001B833BFCD}"/>
              </a:ext>
            </a:extLst>
          </p:cNvPr>
          <p:cNvGrpSpPr/>
          <p:nvPr/>
        </p:nvGrpSpPr>
        <p:grpSpPr>
          <a:xfrm>
            <a:off x="-342610" y="973228"/>
            <a:ext cx="9698653" cy="3214074"/>
            <a:chOff x="-1113454" y="1207140"/>
            <a:chExt cx="9698653" cy="321407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995989C-03F2-B580-3464-408F3A6CC30D}"/>
                </a:ext>
              </a:extLst>
            </p:cNvPr>
            <p:cNvSpPr/>
            <p:nvPr/>
          </p:nvSpPr>
          <p:spPr>
            <a:xfrm>
              <a:off x="2294040" y="1355302"/>
              <a:ext cx="3046577" cy="298322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7434" name="TextBox 17433"/>
            <p:cNvSpPr txBox="1"/>
            <p:nvPr/>
          </p:nvSpPr>
          <p:spPr>
            <a:xfrm>
              <a:off x="5389033" y="1735517"/>
              <a:ext cx="2417234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0" i="0" dirty="0">
                  <a:solidFill>
                    <a:srgbClr val="4E5C69"/>
                  </a:solidFill>
                  <a:latin typeface="Arial"/>
                </a:rPr>
                <a:t>Better heatwave, storm and flood warnings for the people who depend on them.</a:t>
              </a:r>
            </a:p>
          </p:txBody>
        </p:sp>
        <p:sp>
          <p:nvSpPr>
            <p:cNvPr id="17437" name="TextBox 17436"/>
            <p:cNvSpPr txBox="1"/>
            <p:nvPr/>
          </p:nvSpPr>
          <p:spPr>
            <a:xfrm>
              <a:off x="5694594" y="2854230"/>
              <a:ext cx="2890605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0" i="0" dirty="0">
                  <a:solidFill>
                    <a:srgbClr val="4E5C69"/>
                  </a:solidFill>
                  <a:latin typeface="Arial"/>
                </a:rPr>
                <a:t>Fewer needless site visits, and drift is found days ahead so repairs are planned, not emergencies.</a:t>
              </a:r>
            </a:p>
          </p:txBody>
        </p:sp>
        <p:sp>
          <p:nvSpPr>
            <p:cNvPr id="17446" name="TextBox 17445"/>
            <p:cNvSpPr txBox="1"/>
            <p:nvPr/>
          </p:nvSpPr>
          <p:spPr>
            <a:xfrm>
              <a:off x="5340617" y="3887369"/>
              <a:ext cx="2704410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100" b="0" i="0" dirty="0">
                  <a:solidFill>
                    <a:srgbClr val="4E5C69"/>
                  </a:solidFill>
                  <a:latin typeface="Arial"/>
                </a:rPr>
                <a:t>Cleaner records for climate monitoring, and fewer trips to check healthy stations.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F082AB9-3B8A-02D3-920D-F83AB8A22A7E}"/>
                </a:ext>
              </a:extLst>
            </p:cNvPr>
            <p:cNvGrpSpPr/>
            <p:nvPr/>
          </p:nvGrpSpPr>
          <p:grpSpPr>
            <a:xfrm>
              <a:off x="3105465" y="1422481"/>
              <a:ext cx="3988027" cy="2859272"/>
              <a:chOff x="1141198" y="1702076"/>
              <a:chExt cx="3988027" cy="2859272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BF8EC70-AD6E-41CD-8B5F-39D67D22375E}"/>
                  </a:ext>
                </a:extLst>
              </p:cNvPr>
              <p:cNvSpPr/>
              <p:nvPr/>
            </p:nvSpPr>
            <p:spPr>
              <a:xfrm>
                <a:off x="1141198" y="2413014"/>
                <a:ext cx="1389805" cy="1389874"/>
              </a:xfrm>
              <a:custGeom>
                <a:avLst/>
                <a:gdLst>
                  <a:gd name="csX0" fmla="*/ 0 w 1389805"/>
                  <a:gd name="csY0" fmla="*/ 694937 h 1389874"/>
                  <a:gd name="csX1" fmla="*/ 694903 w 1389805"/>
                  <a:gd name="csY1" fmla="*/ 0 h 1389874"/>
                  <a:gd name="csX2" fmla="*/ 1389806 w 1389805"/>
                  <a:gd name="csY2" fmla="*/ 694937 h 1389874"/>
                  <a:gd name="csX3" fmla="*/ 694903 w 1389805"/>
                  <a:gd name="csY3" fmla="*/ 1389874 h 1389874"/>
                  <a:gd name="csX4" fmla="*/ 0 w 1389805"/>
                  <a:gd name="csY4" fmla="*/ 694937 h 1389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89805" h="1389874">
                    <a:moveTo>
                      <a:pt x="0" y="694937"/>
                    </a:moveTo>
                    <a:cubicBezTo>
                      <a:pt x="0" y="311134"/>
                      <a:pt x="311119" y="0"/>
                      <a:pt x="694903" y="0"/>
                    </a:cubicBezTo>
                    <a:cubicBezTo>
                      <a:pt x="1078687" y="0"/>
                      <a:pt x="1389806" y="311134"/>
                      <a:pt x="1389806" y="694937"/>
                    </a:cubicBezTo>
                    <a:cubicBezTo>
                      <a:pt x="1389806" y="1078740"/>
                      <a:pt x="1078687" y="1389874"/>
                      <a:pt x="694903" y="1389874"/>
                    </a:cubicBezTo>
                    <a:cubicBezTo>
                      <a:pt x="311119" y="1389874"/>
                      <a:pt x="0" y="1078740"/>
                      <a:pt x="0" y="694937"/>
                    </a:cubicBezTo>
                    <a:close/>
                  </a:path>
                </a:pathLst>
              </a:custGeom>
              <a:noFill/>
              <a:ln w="44450" cmpd="thickThin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32742" tIns="232752" rIns="232742" bIns="232752" numCol="1" spcCol="1270" anchor="ctr" anchorCtr="0">
                <a:noAutofit/>
              </a:bodyPr>
              <a:lstStyle/>
              <a:p>
                <a:pPr marL="0" lvl="0" indent="0" algn="ctr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2300" kern="1200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886DC94-33D5-CD2C-08DE-B2BF5E0F1135}"/>
                  </a:ext>
                </a:extLst>
              </p:cNvPr>
              <p:cNvSpPr/>
              <p:nvPr/>
            </p:nvSpPr>
            <p:spPr>
              <a:xfrm>
                <a:off x="3325134" y="1702076"/>
                <a:ext cx="996574" cy="720783"/>
              </a:xfrm>
              <a:custGeom>
                <a:avLst/>
                <a:gdLst>
                  <a:gd name="csX0" fmla="*/ 0 w 996574"/>
                  <a:gd name="csY0" fmla="*/ 0 h 720783"/>
                  <a:gd name="csX1" fmla="*/ 996574 w 996574"/>
                  <a:gd name="csY1" fmla="*/ 0 h 720783"/>
                  <a:gd name="csX2" fmla="*/ 996574 w 996574"/>
                  <a:gd name="csY2" fmla="*/ 720783 h 720783"/>
                  <a:gd name="csX3" fmla="*/ 0 w 996574"/>
                  <a:gd name="csY3" fmla="*/ 720783 h 720783"/>
                  <a:gd name="csX4" fmla="*/ 0 w 996574"/>
                  <a:gd name="csY4" fmla="*/ 0 h 720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96574" h="720783">
                    <a:moveTo>
                      <a:pt x="0" y="0"/>
                    </a:moveTo>
                    <a:lnTo>
                      <a:pt x="996574" y="0"/>
                    </a:lnTo>
                    <a:lnTo>
                      <a:pt x="996574" y="720783"/>
                    </a:lnTo>
                    <a:lnTo>
                      <a:pt x="0" y="7207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0000"/>
                  </a:spcAft>
                  <a:buNone/>
                </a:pPr>
                <a:r>
                  <a:rPr lang="en-US" sz="1600" b="1" kern="1200" dirty="0">
                    <a:solidFill>
                      <a:srgbClr val="16A34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Social</a:t>
                </a:r>
              </a:p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0000"/>
                  </a:spcAft>
                  <a:buNone/>
                </a:pPr>
                <a:endParaRPr lang="en-IN" sz="1200" kern="1200" dirty="0"/>
              </a:p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0000"/>
                  </a:spcAft>
                  <a:buNone/>
                </a:pPr>
                <a:endParaRPr lang="en-IN" sz="1200" kern="1200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09F4CC4-928A-5A7E-2A74-059E823781C8}"/>
                  </a:ext>
                </a:extLst>
              </p:cNvPr>
              <p:cNvSpPr/>
              <p:nvPr/>
            </p:nvSpPr>
            <p:spPr>
              <a:xfrm>
                <a:off x="3730327" y="2588217"/>
                <a:ext cx="1247688" cy="822960"/>
              </a:xfrm>
              <a:custGeom>
                <a:avLst/>
                <a:gdLst>
                  <a:gd name="csX0" fmla="*/ 0 w 996574"/>
                  <a:gd name="csY0" fmla="*/ 0 h 720783"/>
                  <a:gd name="csX1" fmla="*/ 996574 w 996574"/>
                  <a:gd name="csY1" fmla="*/ 0 h 720783"/>
                  <a:gd name="csX2" fmla="*/ 996574 w 996574"/>
                  <a:gd name="csY2" fmla="*/ 720783 h 720783"/>
                  <a:gd name="csX3" fmla="*/ 0 w 996574"/>
                  <a:gd name="csY3" fmla="*/ 720783 h 720783"/>
                  <a:gd name="csX4" fmla="*/ 0 w 996574"/>
                  <a:gd name="csY4" fmla="*/ 0 h 720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96574" h="720783">
                    <a:moveTo>
                      <a:pt x="0" y="0"/>
                    </a:moveTo>
                    <a:lnTo>
                      <a:pt x="996574" y="0"/>
                    </a:lnTo>
                    <a:lnTo>
                      <a:pt x="996574" y="720783"/>
                    </a:lnTo>
                    <a:lnTo>
                      <a:pt x="0" y="7207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0000"/>
                  </a:spcAft>
                  <a:buNone/>
                </a:pPr>
                <a:r>
                  <a:rPr lang="en-US" sz="1600" b="1" kern="1200" dirty="0">
                    <a:solidFill>
                      <a:srgbClr val="16A34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Economics</a:t>
                </a:r>
                <a:endParaRPr lang="en-IN" sz="1600" kern="1200" dirty="0">
                  <a:solidFill>
                    <a:srgbClr val="16A34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AFE4989-184B-DD42-AFDF-DA71CEC86B39}"/>
                  </a:ext>
                </a:extLst>
              </p:cNvPr>
              <p:cNvSpPr/>
              <p:nvPr/>
            </p:nvSpPr>
            <p:spPr>
              <a:xfrm>
                <a:off x="2631827" y="1801368"/>
                <a:ext cx="744523" cy="744732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algn="ctr"/>
                <a:r>
                  <a:rPr lang="en-US" sz="3200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IN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06FEFCC-0C3C-B9F4-BC93-BE5D482E4BBC}"/>
                  </a:ext>
                </a:extLst>
              </p:cNvPr>
              <p:cNvSpPr/>
              <p:nvPr/>
            </p:nvSpPr>
            <p:spPr>
              <a:xfrm>
                <a:off x="3376350" y="3499535"/>
                <a:ext cx="1752875" cy="1061813"/>
              </a:xfrm>
              <a:custGeom>
                <a:avLst/>
                <a:gdLst>
                  <a:gd name="csX0" fmla="*/ 0 w 996574"/>
                  <a:gd name="csY0" fmla="*/ 0 h 720783"/>
                  <a:gd name="csX1" fmla="*/ 996574 w 996574"/>
                  <a:gd name="csY1" fmla="*/ 0 h 720783"/>
                  <a:gd name="csX2" fmla="*/ 996574 w 996574"/>
                  <a:gd name="csY2" fmla="*/ 720783 h 720783"/>
                  <a:gd name="csX3" fmla="*/ 0 w 996574"/>
                  <a:gd name="csY3" fmla="*/ 720783 h 720783"/>
                  <a:gd name="csX4" fmla="*/ 0 w 996574"/>
                  <a:gd name="csY4" fmla="*/ 0 h 720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96574" h="720783">
                    <a:moveTo>
                      <a:pt x="0" y="0"/>
                    </a:moveTo>
                    <a:lnTo>
                      <a:pt x="996574" y="0"/>
                    </a:lnTo>
                    <a:lnTo>
                      <a:pt x="996574" y="720783"/>
                    </a:lnTo>
                    <a:lnTo>
                      <a:pt x="0" y="720783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marL="0" lvl="0" indent="0" algn="l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10000"/>
                  </a:spcAft>
                  <a:buNone/>
                </a:pPr>
                <a:r>
                  <a:rPr lang="en-IN" sz="1600" b="1" kern="1200" dirty="0">
                    <a:solidFill>
                      <a:srgbClr val="16A34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Environmental</a:t>
                </a:r>
                <a:endParaRPr lang="en-IN" sz="1200" kern="1200" dirty="0">
                  <a:solidFill>
                    <a:srgbClr val="16A34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ACF07D-56C2-3C67-D1BE-3BA4E62D9D4F}"/>
                </a:ext>
              </a:extLst>
            </p:cNvPr>
            <p:cNvSpPr txBox="1"/>
            <p:nvPr/>
          </p:nvSpPr>
          <p:spPr>
            <a:xfrm rot="16200000">
              <a:off x="2830191" y="2604322"/>
              <a:ext cx="15380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IMPACT</a:t>
              </a:r>
              <a:endParaRPr lang="en-IN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07386E-3C58-376A-9B1D-7B5CB9943B2D}"/>
                </a:ext>
              </a:extLst>
            </p:cNvPr>
            <p:cNvSpPr txBox="1"/>
            <p:nvPr/>
          </p:nvSpPr>
          <p:spPr>
            <a:xfrm rot="5400000">
              <a:off x="3184171" y="2624651"/>
              <a:ext cx="15380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6A34A"/>
                  </a:solidFill>
                </a:rPr>
                <a:t>BENEFITS</a:t>
              </a:r>
              <a:endParaRPr lang="en-IN" sz="2400" b="1" dirty="0">
                <a:solidFill>
                  <a:srgbClr val="16A34A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70927A4-5BB9-A532-3242-42CF020761E2}"/>
                </a:ext>
              </a:extLst>
            </p:cNvPr>
            <p:cNvSpPr/>
            <p:nvPr/>
          </p:nvSpPr>
          <p:spPr>
            <a:xfrm>
              <a:off x="4889073" y="2567320"/>
              <a:ext cx="744523" cy="7447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IN" sz="3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747C790-B947-0CF2-5538-98BD70504F78}"/>
                </a:ext>
              </a:extLst>
            </p:cNvPr>
            <p:cNvSpPr/>
            <p:nvPr/>
          </p:nvSpPr>
          <p:spPr>
            <a:xfrm>
              <a:off x="4495270" y="3570234"/>
              <a:ext cx="744523" cy="7447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IN" sz="3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3FBA7A-B064-1D5E-9311-84B477C06D8F}"/>
                </a:ext>
              </a:extLst>
            </p:cNvPr>
            <p:cNvSpPr txBox="1"/>
            <p:nvPr/>
          </p:nvSpPr>
          <p:spPr>
            <a:xfrm>
              <a:off x="-387524" y="1707554"/>
              <a:ext cx="2579009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US" sz="1100" b="0" i="0" dirty="0">
                  <a:solidFill>
                    <a:srgbClr val="4E5C69"/>
                  </a:solidFill>
                  <a:latin typeface="Arial"/>
                </a:rPr>
                <a:t>Cleaner temperature, pressure and humidity reach forecast models, so bad readings stop skewing warnings.</a:t>
              </a:r>
              <a:endParaRPr sz="1100" b="0" i="0" dirty="0">
                <a:solidFill>
                  <a:srgbClr val="4E5C69"/>
                </a:solidFill>
                <a:latin typeface="Arial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FF8D9C-8DF8-2EC4-48BA-4950B59BD207}"/>
                </a:ext>
              </a:extLst>
            </p:cNvPr>
            <p:cNvSpPr txBox="1"/>
            <p:nvPr/>
          </p:nvSpPr>
          <p:spPr>
            <a:xfrm>
              <a:off x="-1113454" y="2782748"/>
              <a:ext cx="2867005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US" sz="1100" b="0" i="0" dirty="0">
                  <a:solidFill>
                    <a:srgbClr val="4E5C69"/>
                  </a:solidFill>
                  <a:latin typeface="Arial"/>
                </a:rPr>
                <a:t>Alerts name the sensor and</a:t>
              </a:r>
            </a:p>
            <a:p>
              <a:pPr algn="r">
                <a:spcAft>
                  <a:spcPts val="300"/>
                </a:spcAft>
              </a:pPr>
              <a:r>
                <a:rPr lang="en-US" sz="1100" b="0" i="0" dirty="0">
                  <a:solidFill>
                    <a:srgbClr val="4E5C69"/>
                  </a:solidFill>
                  <a:latin typeface="Arial"/>
                </a:rPr>
                <a:t>its fix, so crews go straight</a:t>
              </a:r>
            </a:p>
            <a:p>
              <a:pPr algn="r">
                <a:spcAft>
                  <a:spcPts val="300"/>
                </a:spcAft>
              </a:pPr>
              <a:r>
                <a:rPr lang="en-US" sz="1100" b="0" i="0" dirty="0">
                  <a:solidFill>
                    <a:srgbClr val="4E5C69"/>
                  </a:solidFill>
                  <a:latin typeface="Arial"/>
                </a:rPr>
                <a:t>to the right station.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19930E-EE55-F248-E659-9AA6A65C335B}"/>
                </a:ext>
              </a:extLst>
            </p:cNvPr>
            <p:cNvSpPr txBox="1"/>
            <p:nvPr/>
          </p:nvSpPr>
          <p:spPr>
            <a:xfrm>
              <a:off x="209707" y="3913383"/>
              <a:ext cx="2208091" cy="5078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US" sz="1100" b="0" i="0" dirty="0">
                  <a:solidFill>
                    <a:srgbClr val="4E5C69"/>
                  </a:solidFill>
                  <a:latin typeface="Arial"/>
                </a:rPr>
                <a:t>Real heatwaves and storms are labelled as weather, never deleted (100% kept in tests).</a:t>
              </a:r>
              <a:endParaRPr sz="1100" b="0" i="0" dirty="0">
                <a:solidFill>
                  <a:srgbClr val="4E5C69"/>
                </a:solidFill>
                <a:latin typeface="Arial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48878D4-7E9D-816A-52E3-07D1AA244E5F}"/>
                </a:ext>
              </a:extLst>
            </p:cNvPr>
            <p:cNvSpPr/>
            <p:nvPr/>
          </p:nvSpPr>
          <p:spPr>
            <a:xfrm>
              <a:off x="-598909" y="1207140"/>
              <a:ext cx="2865879" cy="720783"/>
            </a:xfrm>
            <a:custGeom>
              <a:avLst/>
              <a:gdLst>
                <a:gd name="csX0" fmla="*/ 0 w 996574"/>
                <a:gd name="csY0" fmla="*/ 0 h 720783"/>
                <a:gd name="csX1" fmla="*/ 996574 w 996574"/>
                <a:gd name="csY1" fmla="*/ 0 h 720783"/>
                <a:gd name="csX2" fmla="*/ 996574 w 996574"/>
                <a:gd name="csY2" fmla="*/ 720783 h 720783"/>
                <a:gd name="csX3" fmla="*/ 0 w 996574"/>
                <a:gd name="csY3" fmla="*/ 720783 h 720783"/>
                <a:gd name="csX4" fmla="*/ 0 w 996574"/>
                <a:gd name="csY4" fmla="*/ 0 h 720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6574" h="720783">
                  <a:moveTo>
                    <a:pt x="0" y="0"/>
                  </a:moveTo>
                  <a:lnTo>
                    <a:pt x="996574" y="0"/>
                  </a:lnTo>
                  <a:lnTo>
                    <a:pt x="996574" y="720783"/>
                  </a:lnTo>
                  <a:lnTo>
                    <a:pt x="0" y="72078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r" defTabSz="533400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US" sz="1600" b="1" kern="12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Trustworthy Data</a:t>
              </a:r>
              <a:endParaRPr lang="en-IN" sz="1200" kern="12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A98619-1869-41BE-C0CA-DE704C4F84B6}"/>
                </a:ext>
              </a:extLst>
            </p:cNvPr>
            <p:cNvSpPr/>
            <p:nvPr/>
          </p:nvSpPr>
          <p:spPr>
            <a:xfrm>
              <a:off x="-598909" y="2266505"/>
              <a:ext cx="2366322" cy="822960"/>
            </a:xfrm>
            <a:custGeom>
              <a:avLst/>
              <a:gdLst>
                <a:gd name="csX0" fmla="*/ 0 w 996574"/>
                <a:gd name="csY0" fmla="*/ 0 h 720783"/>
                <a:gd name="csX1" fmla="*/ 996574 w 996574"/>
                <a:gd name="csY1" fmla="*/ 0 h 720783"/>
                <a:gd name="csX2" fmla="*/ 996574 w 996574"/>
                <a:gd name="csY2" fmla="*/ 720783 h 720783"/>
                <a:gd name="csX3" fmla="*/ 0 w 996574"/>
                <a:gd name="csY3" fmla="*/ 720783 h 720783"/>
                <a:gd name="csX4" fmla="*/ 0 w 996574"/>
                <a:gd name="csY4" fmla="*/ 0 h 720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6574" h="720783">
                  <a:moveTo>
                    <a:pt x="0" y="0"/>
                  </a:moveTo>
                  <a:lnTo>
                    <a:pt x="996574" y="0"/>
                  </a:lnTo>
                  <a:lnTo>
                    <a:pt x="996574" y="720783"/>
                  </a:lnTo>
                  <a:lnTo>
                    <a:pt x="0" y="72078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r" defTabSz="53340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US" sz="1600" b="1" kern="12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Faster Repairs</a:t>
              </a:r>
              <a:endParaRPr lang="en-IN" sz="1600" kern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FA3079D-0A27-9EA8-F99C-6A9D6596E93D}"/>
                </a:ext>
              </a:extLst>
            </p:cNvPr>
            <p:cNvSpPr/>
            <p:nvPr/>
          </p:nvSpPr>
          <p:spPr>
            <a:xfrm>
              <a:off x="2245624" y="1467923"/>
              <a:ext cx="744523" cy="7447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IN" sz="3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8E7647D-C971-A672-50BA-B88A360CB962}"/>
                </a:ext>
              </a:extLst>
            </p:cNvPr>
            <p:cNvSpPr/>
            <p:nvPr/>
          </p:nvSpPr>
          <p:spPr>
            <a:xfrm>
              <a:off x="-1090500" y="3286425"/>
              <a:ext cx="3481364" cy="1061813"/>
            </a:xfrm>
            <a:custGeom>
              <a:avLst/>
              <a:gdLst>
                <a:gd name="csX0" fmla="*/ 0 w 996574"/>
                <a:gd name="csY0" fmla="*/ 0 h 720783"/>
                <a:gd name="csX1" fmla="*/ 996574 w 996574"/>
                <a:gd name="csY1" fmla="*/ 0 h 720783"/>
                <a:gd name="csX2" fmla="*/ 996574 w 996574"/>
                <a:gd name="csY2" fmla="*/ 720783 h 720783"/>
                <a:gd name="csX3" fmla="*/ 0 w 996574"/>
                <a:gd name="csY3" fmla="*/ 720783 h 720783"/>
                <a:gd name="csX4" fmla="*/ 0 w 996574"/>
                <a:gd name="csY4" fmla="*/ 0 h 720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6574" h="720783">
                  <a:moveTo>
                    <a:pt x="0" y="0"/>
                  </a:moveTo>
                  <a:lnTo>
                    <a:pt x="996574" y="0"/>
                  </a:lnTo>
                  <a:lnTo>
                    <a:pt x="996574" y="720783"/>
                  </a:lnTo>
                  <a:lnTo>
                    <a:pt x="0" y="72078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r" defTabSz="53340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en-IN" sz="1600" b="1" kern="12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 Weather Kept</a:t>
              </a:r>
              <a:endParaRPr lang="en-IN" sz="1200" kern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1F28688-E0F4-A0C1-77C2-08565F93A504}"/>
                </a:ext>
              </a:extLst>
            </p:cNvPr>
            <p:cNvSpPr/>
            <p:nvPr/>
          </p:nvSpPr>
          <p:spPr>
            <a:xfrm>
              <a:off x="1839494" y="2534901"/>
              <a:ext cx="744523" cy="7447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IN" sz="3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1918A84-0248-1651-6BBA-3DB77A8BFB65}"/>
                </a:ext>
              </a:extLst>
            </p:cNvPr>
            <p:cNvSpPr/>
            <p:nvPr/>
          </p:nvSpPr>
          <p:spPr>
            <a:xfrm>
              <a:off x="2468210" y="3568851"/>
              <a:ext cx="744523" cy="7447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IN" sz="3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7195994F-5E82-ECE5-41BE-CD786048C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035435"/>
              </p:ext>
            </p:extLst>
          </p:nvPr>
        </p:nvGraphicFramePr>
        <p:xfrm>
          <a:off x="9185713" y="879368"/>
          <a:ext cx="2936095" cy="5338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067CEDC-6615-CEB3-52ED-4BD03AECC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0053"/>
              </p:ext>
            </p:extLst>
          </p:nvPr>
        </p:nvGraphicFramePr>
        <p:xfrm>
          <a:off x="228386" y="4684057"/>
          <a:ext cx="8839627" cy="1373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481">
                  <a:extLst>
                    <a:ext uri="{9D8B030D-6E8A-4147-A177-3AD203B41FA5}">
                      <a16:colId xmlns:a16="http://schemas.microsoft.com/office/drawing/2014/main" val="492756683"/>
                    </a:ext>
                  </a:extLst>
                </a:gridCol>
                <a:gridCol w="1455457">
                  <a:extLst>
                    <a:ext uri="{9D8B030D-6E8A-4147-A177-3AD203B41FA5}">
                      <a16:colId xmlns:a16="http://schemas.microsoft.com/office/drawing/2014/main" val="2549339013"/>
                    </a:ext>
                  </a:extLst>
                </a:gridCol>
                <a:gridCol w="2026348">
                  <a:extLst>
                    <a:ext uri="{9D8B030D-6E8A-4147-A177-3AD203B41FA5}">
                      <a16:colId xmlns:a16="http://schemas.microsoft.com/office/drawing/2014/main" val="4058732959"/>
                    </a:ext>
                  </a:extLst>
                </a:gridCol>
                <a:gridCol w="1683074">
                  <a:extLst>
                    <a:ext uri="{9D8B030D-6E8A-4147-A177-3AD203B41FA5}">
                      <a16:colId xmlns:a16="http://schemas.microsoft.com/office/drawing/2014/main" val="1809139834"/>
                    </a:ext>
                  </a:extLst>
                </a:gridCol>
                <a:gridCol w="1964267">
                  <a:extLst>
                    <a:ext uri="{9D8B030D-6E8A-4147-A177-3AD203B41FA5}">
                      <a16:colId xmlns:a16="http://schemas.microsoft.com/office/drawing/2014/main" val="1287131059"/>
                    </a:ext>
                  </a:extLst>
                </a:gridCol>
              </a:tblGrid>
              <a:tr h="26563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Stakeholders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Forecasters (IMD)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Disaster Managers</a:t>
                      </a:r>
                      <a:endParaRPr lang="en-IN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Climate Researchers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43701"/>
                  </a:ext>
                </a:extLst>
              </a:tr>
              <a:tr h="9769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Benefits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Fewer bad inputs to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Targeted repairs, fewer visits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reliable extreme-weather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Cleaner long-term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95062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50695906-DD0E-2F2D-4691-16B4E6863387}"/>
              </a:ext>
            </a:extLst>
          </p:cNvPr>
          <p:cNvGrpSpPr/>
          <p:nvPr/>
        </p:nvGrpSpPr>
        <p:grpSpPr>
          <a:xfrm>
            <a:off x="301465" y="4346956"/>
            <a:ext cx="5655520" cy="251398"/>
            <a:chOff x="365760" y="2724911"/>
            <a:chExt cx="5532120" cy="2240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DCFAF79-03F0-5B21-BA12-CFB68EF1E07E}"/>
                </a:ext>
              </a:extLst>
            </p:cNvPr>
            <p:cNvSpPr/>
            <p:nvPr/>
          </p:nvSpPr>
          <p:spPr>
            <a:xfrm>
              <a:off x="365760" y="2766060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E53B94-187C-5227-593C-47DA32EAFEAC}"/>
                </a:ext>
              </a:extLst>
            </p:cNvPr>
            <p:cNvSpPr txBox="1"/>
            <p:nvPr/>
          </p:nvSpPr>
          <p:spPr>
            <a:xfrm>
              <a:off x="566928" y="2724911"/>
              <a:ext cx="5330952" cy="171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lang="en-IN" sz="1250" b="1" i="0" dirty="0">
                  <a:solidFill>
                    <a:srgbClr val="1F497D"/>
                  </a:solidFill>
                  <a:latin typeface="Arial"/>
                </a:rPr>
                <a:t>Impact &amp; Benefits Across Stakeholders</a:t>
              </a:r>
              <a:endParaRPr sz="1250" b="1" i="0" dirty="0">
                <a:solidFill>
                  <a:srgbClr val="1F497D"/>
                </a:solidFill>
                <a:latin typeface="Arial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7E8BEE-B92C-57BA-23C3-E4BE7B6DF5AB}"/>
              </a:ext>
            </a:extLst>
          </p:cNvPr>
          <p:cNvCxnSpPr>
            <a:cxnSpLocks/>
          </p:cNvCxnSpPr>
          <p:nvPr/>
        </p:nvCxnSpPr>
        <p:spPr>
          <a:xfrm>
            <a:off x="4560872" y="1923068"/>
            <a:ext cx="0" cy="1359628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22" name="Picture 174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9698" y="1560000"/>
            <a:ext cx="5000000" cy="3773584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Secure</a:t>
            </a:r>
          </a:p>
          <a:p>
            <a:pPr algn="ctr"/>
            <a:r>
              <a:rPr lang="en-US" dirty="0"/>
              <a:t>OOPS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714554A-7B4B-0201-2A51-EC1EA265E8D5}"/>
              </a:ext>
            </a:extLst>
          </p:cNvPr>
          <p:cNvGrpSpPr/>
          <p:nvPr/>
        </p:nvGrpSpPr>
        <p:grpSpPr>
          <a:xfrm>
            <a:off x="365760" y="1188720"/>
            <a:ext cx="4096173" cy="224028"/>
            <a:chOff x="365760" y="1188720"/>
            <a:chExt cx="4096173" cy="224028"/>
          </a:xfrm>
        </p:grpSpPr>
        <p:sp>
          <p:nvSpPr>
            <p:cNvPr id="17410" name="Rectangle 17409"/>
            <p:cNvSpPr/>
            <p:nvPr/>
          </p:nvSpPr>
          <p:spPr>
            <a:xfrm>
              <a:off x="365760" y="1229868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1" name="TextBox 17410"/>
            <p:cNvSpPr txBox="1"/>
            <p:nvPr/>
          </p:nvSpPr>
          <p:spPr>
            <a:xfrm>
              <a:off x="566928" y="1188720"/>
              <a:ext cx="3895005" cy="192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sz="1250" b="1" i="0">
                  <a:solidFill>
                    <a:srgbClr val="1F497D"/>
                  </a:solidFill>
                  <a:latin typeface="Arial"/>
                </a:rPr>
                <a:t>Details / Links of the reference and research work</a:t>
              </a:r>
            </a:p>
          </p:txBody>
        </p:sp>
      </p:grpSp>
      <p:sp>
        <p:nvSpPr>
          <p:cNvPr id="17412" name="Rounded Rectangle 17411"/>
          <p:cNvSpPr/>
          <p:nvPr/>
        </p:nvSpPr>
        <p:spPr>
          <a:xfrm>
            <a:off x="365760" y="1499613"/>
            <a:ext cx="6661572" cy="2564407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581912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1600" b="1" i="0" dirty="0">
                <a:solidFill>
                  <a:srgbClr val="1F497D"/>
                </a:solidFill>
                <a:latin typeface="Arial"/>
              </a:rPr>
              <a:t>TECHNICAL RESEARCH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4200543"/>
            <a:ext cx="6661572" cy="2093608"/>
          </a:xfrm>
          <a:prstGeom prst="roundRect">
            <a:avLst>
              <a:gd name="adj" fmla="val 9000"/>
            </a:avLst>
          </a:prstGeom>
          <a:solidFill>
            <a:srgbClr val="E8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548640" y="4266039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600" b="1" i="0" dirty="0">
                <a:solidFill>
                  <a:srgbClr val="3E6E2E"/>
                </a:solidFill>
                <a:latin typeface="Arial"/>
              </a:rPr>
              <a:t>CASE STUDIES</a:t>
            </a:r>
            <a:endParaRPr sz="1600" b="1" i="0" dirty="0">
              <a:solidFill>
                <a:srgbClr val="3E6E2E"/>
              </a:solidFill>
              <a:latin typeface="Arial"/>
            </a:endParaRPr>
          </a:p>
        </p:txBody>
      </p:sp>
      <p:sp>
        <p:nvSpPr>
          <p:cNvPr id="17420" name="TextBox 17419"/>
          <p:cNvSpPr txBox="1"/>
          <p:nvPr/>
        </p:nvSpPr>
        <p:spPr>
          <a:xfrm>
            <a:off x="548640" y="4566127"/>
            <a:ext cx="6360160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</a:rPr>
              <a:t>Delhi 55 °C reading (simulated):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One station jumped +17 °C while 6 neighbours stayed normal. Flagged the same minute as a sensor fault (99%), corrected value 39.8 °C.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4E5C69"/>
              </a:solidFill>
              <a:latin typeface="Arial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</a:rPr>
              <a:t>Delhi heatwave (simulated):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All 6 neighbours rose together, so it was kept as real weather (97%), not deleted.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4E5C69"/>
              </a:solidFill>
              <a:latin typeface="Arial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</a:rPr>
              <a:t>Pune stuck barometer (simulated):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Pressure froze inside the normal range. Caught 17 minutes after onset as a stuck sensor (99%).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FBB9C-11BE-C479-86C9-3925C219C4F6}"/>
              </a:ext>
            </a:extLst>
          </p:cNvPr>
          <p:cNvSpPr txBox="1"/>
          <p:nvPr/>
        </p:nvSpPr>
        <p:spPr>
          <a:xfrm>
            <a:off x="516466" y="1894601"/>
            <a:ext cx="6360160" cy="2087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  <a:hlinkClick r:id="rId10"/>
              </a:rPr>
              <a:t>Isolation Forest (Liu, Ting &amp; Zhou, ICDM 2008):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The unsupervised outlier detector we use to learn each station’s own normal behaviour without labelled faults.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4E5C69"/>
              </a:solidFill>
              <a:latin typeface="Arial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  <a:hlinkClick r:id="rId11"/>
              </a:rPr>
              <a:t>Anomaly Detection: A Survey (Chandola et al., ACM CSUR 2009):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Defines point, contextual and collective anomalies, which our spike, level-shift and drift fault types follow.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4E5C69"/>
              </a:solidFill>
              <a:latin typeface="Arial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4E5C69"/>
                </a:solidFill>
                <a:latin typeface="Arial"/>
                <a:hlinkClick r:id="rId12"/>
              </a:rPr>
              <a:t>Bolton (1980) and WMO quality-control practice (WMO No. 8; Zahumenský, 2004): </a:t>
            </a:r>
            <a:r>
              <a:rPr lang="en-US" sz="1200" dirty="0">
                <a:solidFill>
                  <a:srgbClr val="4E5C69"/>
                </a:solidFill>
                <a:latin typeface="Arial"/>
              </a:rPr>
              <a:t>Dew-point physics plus the standard range, step, persistence and spatial checks for AWS data.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9B634B-A2F9-C901-B2F0-8B1D2CEF8538}"/>
              </a:ext>
            </a:extLst>
          </p:cNvPr>
          <p:cNvGrpSpPr/>
          <p:nvPr/>
        </p:nvGrpSpPr>
        <p:grpSpPr>
          <a:xfrm>
            <a:off x="7079698" y="1173982"/>
            <a:ext cx="4096173" cy="224028"/>
            <a:chOff x="365760" y="1188720"/>
            <a:chExt cx="4096173" cy="22402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12E8B7E-B90B-72D1-EF64-6D1328D71D20}"/>
                </a:ext>
              </a:extLst>
            </p:cNvPr>
            <p:cNvSpPr/>
            <p:nvPr/>
          </p:nvSpPr>
          <p:spPr>
            <a:xfrm>
              <a:off x="365760" y="1229868"/>
              <a:ext cx="91440" cy="1828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5EC9A4-4318-1101-83AF-74ED5EB115CD}"/>
                </a:ext>
              </a:extLst>
            </p:cNvPr>
            <p:cNvSpPr txBox="1"/>
            <p:nvPr/>
          </p:nvSpPr>
          <p:spPr>
            <a:xfrm>
              <a:off x="566928" y="1188720"/>
              <a:ext cx="3895005" cy="192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300"/>
                </a:spcAft>
              </a:pPr>
              <a:r>
                <a:rPr lang="en-US" sz="1250" b="1" i="0" dirty="0">
                  <a:solidFill>
                    <a:srgbClr val="1F497D"/>
                  </a:solidFill>
                  <a:latin typeface="Arial"/>
                </a:rPr>
                <a:t>Measured Results (simulated 57-station test)</a:t>
              </a:r>
              <a:endParaRPr sz="1250" b="1" i="0" dirty="0">
                <a:solidFill>
                  <a:srgbClr val="1F497D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8716</TotalTime>
  <Words>1064</Words>
  <Application>Microsoft Office PowerPoint</Application>
  <PresentationFormat>Widescreen</PresentationFormat>
  <Paragraphs>185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Google Sans Text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Jeet Das</cp:lastModifiedBy>
  <cp:revision>174</cp:revision>
  <dcterms:created xsi:type="dcterms:W3CDTF">2013-12-12T18:46:50Z</dcterms:created>
  <dcterms:modified xsi:type="dcterms:W3CDTF">2026-09-28T11:57:51Z</dcterms:modified>
  <cp:category/>
</cp:coreProperties>
</file>